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6D6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006D6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Lighthouse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System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1480" y="2834640"/>
            <a:ext cx="4114800" cy="22860"/>
          </a:xfrm>
          <a:prstGeom prst="rect">
            <a:avLst/>
          </a:prstGeom>
          <a:solidFill>
            <a:srgbClr val="006D6F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971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CCCC"/>
                </a:solidFill>
              </a:rPr>
              <a:t>Team 404Squad  ·  IsDB-BISEW Round-67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273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</a:rPr>
              <a:t>NVIT – New Vision Information Technology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547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</a:rPr>
              <a:t>Trainer: Foysal Wahid  ·  Consultant: Jahidul Hasan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858768"/>
            <a:ext cx="4114800" cy="22860"/>
          </a:xfrm>
          <a:prstGeom prst="rect">
            <a:avLst/>
          </a:prstGeom>
          <a:solidFill>
            <a:srgbClr val="006D6F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39319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</a:rPr>
              <a:t>Mizanur Rahman  ·  Moinuddin  ·  Abdullah Al Ayman  ·  Nasrin Zaman  ·  Joynab Nur Mishu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9F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006D6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OVERVIEW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Lighthouse?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8F5F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🏛️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9848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B"/>
                </a:solidFill>
              </a:rPr>
              <a:t>Smart Library ERP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69848" y="17373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Full library management — books, members, borrowing, stock, accounts and reports in one system.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325880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4630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8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👥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58968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B"/>
                </a:solidFill>
              </a:rPr>
              <a:t>Two User Roles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58968" y="17373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Member (React frontend) browses &amp; borrows. Admin (Angular panel) manages everything.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632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8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69848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B"/>
                </a:solidFill>
              </a:rPr>
              <a:t>Stock &amp; Shelves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69848" y="33375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Purchase orders, GRN, barcode generation, and automatic shelf assignment with capacity check.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926080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30632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8F5F5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58968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B"/>
                </a:solidFill>
              </a:rPr>
              <a:t>Dynamic RBAC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58968" y="33375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Custom roles and granular permissions checked on every API request — no code change needed.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9F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006D6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TECHNOLOGY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1572768" cy="27432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9224" y="1527048"/>
            <a:ext cx="896112" cy="896112"/>
          </a:xfrm>
          <a:prstGeom prst="roundRect">
            <a:avLst>
              <a:gd name="adj" fmla="val 12245"/>
            </a:avLst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527048"/>
            <a:ext cx="8961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⚛️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2532888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3B"/>
                </a:solidFill>
              </a:rPr>
              <a:t>React + TypeScript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97180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</a:rPr>
              <a:t>Member / User frontend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</a:rPr>
              <a:t>Light modern UI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20824" y="1325880"/>
            <a:ext cx="1572768" cy="27432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50008" y="1527048"/>
            <a:ext cx="896112" cy="896112"/>
          </a:xfrm>
          <a:prstGeom prst="roundRect">
            <a:avLst>
              <a:gd name="adj" fmla="val 12245"/>
            </a:avLst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2350008" y="1527048"/>
            <a:ext cx="8961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🔺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112264" y="2532888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3B"/>
                </a:solidFill>
              </a:rPr>
              <a:t>Angular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12264" y="297180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</a:rPr>
              <a:t>Admin panel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</a:rPr>
              <a:t>Back-office management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21608" y="1325880"/>
            <a:ext cx="1572768" cy="27432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50792" y="1527048"/>
            <a:ext cx="896112" cy="896112"/>
          </a:xfrm>
          <a:prstGeom prst="roundRect">
            <a:avLst>
              <a:gd name="adj" fmla="val 12245"/>
            </a:avLst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4050792" y="1527048"/>
            <a:ext cx="8961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813048" y="2532888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3B"/>
                </a:solidFill>
              </a:rPr>
              <a:t>.NET Core 8 Web API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13048" y="297180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</a:rPr>
              <a:t>REST backend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</a:rPr>
              <a:t>Policy-based auth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22392" y="1325880"/>
            <a:ext cx="1572768" cy="27432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51576" y="1527048"/>
            <a:ext cx="896112" cy="896112"/>
          </a:xfrm>
          <a:prstGeom prst="roundRect">
            <a:avLst>
              <a:gd name="adj" fmla="val 12245"/>
            </a:avLst>
          </a:prstGeom>
          <a:solidFill>
            <a:srgbClr val="0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5751576" y="1527048"/>
            <a:ext cx="8961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🗄️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513832" y="2532888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3B"/>
                </a:solidFill>
              </a:rPr>
              <a:t>SQL Server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13832" y="297180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</a:rPr>
              <a:t>Database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</a:rPr>
              <a:t>Entity Framework Core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123176" y="1325880"/>
            <a:ext cx="1572768" cy="27432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52360" y="1527048"/>
            <a:ext cx="896112" cy="896112"/>
          </a:xfrm>
          <a:prstGeom prst="roundRect">
            <a:avLst>
              <a:gd name="adj" fmla="val 12245"/>
            </a:avLst>
          </a:prstGeom>
          <a:solidFill>
            <a:srgbClr val="00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7452360" y="1527048"/>
            <a:ext cx="8961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214616" y="2532888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3B"/>
                </a:solidFill>
              </a:rPr>
              <a:t>Dynamic RBAC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214616" y="297180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</a:rPr>
              <a:t>Custom roles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</a:rPr>
              <a:t>Granular permissions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9F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006D6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ROLES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Roles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4069080" cy="3474720"/>
          </a:xfrm>
          <a:prstGeom prst="roundRect">
            <a:avLst>
              <a:gd name="adj" fmla="val 3684"/>
            </a:avLst>
          </a:prstGeom>
          <a:solidFill>
            <a:srgbClr val="006D6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173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👨‍💼  Admin / Librarian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01368"/>
            <a:ext cx="3703320" cy="16459"/>
          </a:xfrm>
          <a:prstGeom prst="rect">
            <a:avLst/>
          </a:prstGeom>
          <a:solidFill>
            <a:srgbClr val="338899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8366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Manage books, editions, DDC categories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18541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Approve or reject borrow requests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4871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Create &amp; approve Purchase Orders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788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Receive GRN, assign books to shelves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09067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Configure fine rules per day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39242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Manage members &amp; membership types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69417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Create custom roles &amp; permissions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9959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Generate system-wide reports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36592" y="1261872"/>
            <a:ext cx="4069080" cy="3474720"/>
          </a:xfrm>
          <a:prstGeom prst="roundRect">
            <a:avLst>
              <a:gd name="adj" fmla="val 3684"/>
            </a:avLst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4919472" y="14173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👤  Member / Reader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19472" y="1801368"/>
            <a:ext cx="3703320" cy="16459"/>
          </a:xfrm>
          <a:prstGeom prst="rect">
            <a:avLst/>
          </a:prstGeom>
          <a:solidFill>
            <a:srgbClr val="338899"/>
          </a:solidFill>
          <a:ln/>
        </p:spPr>
      </p:sp>
      <p:sp>
        <p:nvSpPr>
          <p:cNvPr id="20" name="Text 18"/>
          <p:cNvSpPr/>
          <p:nvPr/>
        </p:nvSpPr>
        <p:spPr>
          <a:xfrm>
            <a:off x="4919472" y="188366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Browse catalogue &amp; search by DDC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19472" y="218541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Request physical copy or PDF borrow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19472" y="24871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Preview first 10 pages (no download)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19472" y="2788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Reserve unavailable books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19472" y="309067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View personal dashboard &amp; history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19472" y="339242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Pay fines &amp; membership fees online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19472" y="369417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Renew or upgrade membership plan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19472" y="39959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Generate personal activity report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9F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006D6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MODULES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Modules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2633472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66AB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26464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0F0F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264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24712" y="144475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3B"/>
                </a:solidFill>
              </a:rPr>
              <a:t>Books &amp; Stock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084832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Categories, DDC, editions, physical + PDF copies, barcodes, shelf management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54680" y="1261872"/>
            <a:ext cx="2633472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66AB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426464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0F0F0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4264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🚚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59352" y="144475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3B"/>
                </a:solidFill>
              </a:rPr>
              <a:t>Purchase &amp; Supplier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91840" y="2084832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Supplier profiles, requisition, purchase orders, GRN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89320" y="1261872"/>
            <a:ext cx="2633472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66AB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426464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0F0F0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4264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93992" y="144475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3B"/>
                </a:solidFill>
              </a:rPr>
              <a:t>Borrowing &amp; Reservation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26480" y="2084832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Borrow requests, due dates, returns, reservation queue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044952"/>
            <a:ext cx="2633472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66AB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209544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0F0F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2095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24712" y="32278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3B"/>
                </a:solidFill>
              </a:rPr>
              <a:t>Accounts &amp; Finance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3867912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Accounts payable, fines, membership fees, daily revenue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54680" y="3044952"/>
            <a:ext cx="2633472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66ABA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3209544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0F0F0"/>
          </a:solidFill>
          <a:ln/>
        </p:spPr>
      </p:sp>
      <p:sp>
        <p:nvSpPr>
          <p:cNvPr id="28" name="Text 26"/>
          <p:cNvSpPr/>
          <p:nvPr/>
        </p:nvSpPr>
        <p:spPr>
          <a:xfrm>
            <a:off x="3291840" y="32095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959352" y="32278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3B"/>
                </a:solidFill>
              </a:rPr>
              <a:t>HR &amp; Admin (RBAC)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91840" y="3867912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Custom roles, granular permissions, system audit trail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9F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006D6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WORKFLOW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Borrowing Workflow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1508760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66AB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508760"/>
            <a:ext cx="868680" cy="868680"/>
          </a:xfrm>
          <a:prstGeom prst="ellipse">
            <a:avLst/>
          </a:prstGeom>
          <a:solidFill>
            <a:srgbClr val="006D6F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5087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250545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3B"/>
                </a:solidFill>
              </a:rPr>
              <a:t>Browse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7889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</a:rPr>
              <a:t>Search by DDC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</a:rPr>
              <a:t>or category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47088" y="182880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5A5A6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011680" y="1371600"/>
            <a:ext cx="1508760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66AB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13432" y="1508760"/>
            <a:ext cx="868680" cy="868680"/>
          </a:xfrm>
          <a:prstGeom prst="ellipse">
            <a:avLst/>
          </a:prstGeom>
          <a:solidFill>
            <a:srgbClr val="006D6F"/>
          </a:solidFill>
          <a:ln/>
        </p:spPr>
      </p:sp>
      <p:sp>
        <p:nvSpPr>
          <p:cNvPr id="14" name="Text 12"/>
          <p:cNvSpPr/>
          <p:nvPr/>
        </p:nvSpPr>
        <p:spPr>
          <a:xfrm>
            <a:off x="2313432" y="15087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011680" y="250545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3B"/>
                </a:solidFill>
              </a:rPr>
              <a:t>Request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27889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</a:rPr>
              <a:t>Physical book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</a:rPr>
              <a:t>or PDF preview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38728" y="182880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5A5A6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703320" y="1371600"/>
            <a:ext cx="1508760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66ABA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05072" y="1508760"/>
            <a:ext cx="868680" cy="86868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0" name="Text 18"/>
          <p:cNvSpPr/>
          <p:nvPr/>
        </p:nvSpPr>
        <p:spPr>
          <a:xfrm>
            <a:off x="4005072" y="15087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703320" y="250545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3B"/>
                </a:solidFill>
              </a:rPr>
              <a:t>Approved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03320" y="27889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</a:rPr>
              <a:t>Admin sets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</a:rPr>
              <a:t>due date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30368" y="182880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5A5A6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394960" y="1371600"/>
            <a:ext cx="1508760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66AB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96712" y="1508760"/>
            <a:ext cx="868680" cy="8686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6" name="Text 24"/>
          <p:cNvSpPr/>
          <p:nvPr/>
        </p:nvSpPr>
        <p:spPr>
          <a:xfrm>
            <a:off x="5696712" y="15087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94960" y="250545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3B"/>
                </a:solidFill>
              </a:rPr>
              <a:t>Collect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27889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</a:rPr>
              <a:t>Pick up book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</a:rPr>
              <a:t>or read PDF online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22008" y="182880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5A5A6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086600" y="1371600"/>
            <a:ext cx="1508760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66ABA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88352" y="1508760"/>
            <a:ext cx="868680" cy="8686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2" name="Text 30"/>
          <p:cNvSpPr/>
          <p:nvPr/>
        </p:nvSpPr>
        <p:spPr>
          <a:xfrm>
            <a:off x="7388352" y="15087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↩️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086600" y="250545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3B"/>
                </a:solidFill>
              </a:rPr>
              <a:t>Return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86600" y="27889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</a:rPr>
              <a:t>Admin inspects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</a:rPr>
              <a:t>&amp; marks returned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3657600"/>
            <a:ext cx="8503920" cy="640080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657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⚠️  If Overdue: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874520" y="3657600"/>
            <a:ext cx="6812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</a:rPr>
              <a:t>Fine auto-calculated per day (configurable rule) → Member notified → Member pays fine online or at counter → Recorded in Accounts module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9F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006D6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STOCK-IN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Purchase Order &amp; Stock-In Flow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" y="1325880"/>
            <a:ext cx="1316736" cy="192024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9050">
            <a:solidFill>
              <a:srgbClr val="66AB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1453896"/>
            <a:ext cx="896112" cy="896112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1453896"/>
            <a:ext cx="8961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28600" y="2441448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3B"/>
                </a:solidFill>
              </a:rPr>
              <a:t>Create PO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" y="27157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5A5A6"/>
                </a:solidFill>
              </a:rPr>
              <a:t>Select supplier,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5A5A6"/>
                </a:solidFill>
              </a:rPr>
              <a:t>items &amp; qty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554480" y="178308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5A5A6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682496" y="1325880"/>
            <a:ext cx="1316736" cy="192024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9050">
            <a:solidFill>
              <a:srgbClr val="66AB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83664" y="1453896"/>
            <a:ext cx="896112" cy="896112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14" name="Text 12"/>
          <p:cNvSpPr/>
          <p:nvPr/>
        </p:nvSpPr>
        <p:spPr>
          <a:xfrm>
            <a:off x="1883664" y="1453896"/>
            <a:ext cx="8961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🚚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82496" y="2441448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3B"/>
                </a:solidFill>
              </a:rPr>
              <a:t>Supplier Ships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82496" y="27157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5A5A6"/>
                </a:solidFill>
              </a:rPr>
              <a:t>Pack goods,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5A5A6"/>
                </a:solidFill>
              </a:rPr>
              <a:t>issue invoice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008376" y="178308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5A5A6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136392" y="1325880"/>
            <a:ext cx="1316736" cy="192024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9050">
            <a:solidFill>
              <a:srgbClr val="66ABA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37560" y="1453896"/>
            <a:ext cx="896112" cy="89611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0" name="Text 18"/>
          <p:cNvSpPr/>
          <p:nvPr/>
        </p:nvSpPr>
        <p:spPr>
          <a:xfrm>
            <a:off x="3337560" y="1453896"/>
            <a:ext cx="8961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136392" y="2441448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3B"/>
                </a:solidFill>
              </a:rPr>
              <a:t>GRN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36392" y="27157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5A5A6"/>
                </a:solidFill>
              </a:rPr>
              <a:t>Inspect: item,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5A5A6"/>
                </a:solidFill>
              </a:rPr>
              <a:t>qty, expiry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462272" y="178308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5A5A6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590288" y="1325880"/>
            <a:ext cx="1316736" cy="192024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9050">
            <a:solidFill>
              <a:srgbClr val="66AB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91456" y="1453896"/>
            <a:ext cx="896112" cy="89611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6" name="Text 24"/>
          <p:cNvSpPr/>
          <p:nvPr/>
        </p:nvSpPr>
        <p:spPr>
          <a:xfrm>
            <a:off x="4791456" y="1453896"/>
            <a:ext cx="8961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590288" y="2441448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3B"/>
                </a:solidFill>
              </a:rPr>
              <a:t>Assign Shelf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90288" y="27157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5A5A6"/>
                </a:solidFill>
              </a:rPr>
              <a:t>Floor→Section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5A5A6"/>
                </a:solidFill>
              </a:rPr>
              <a:t>→Rack→Shelf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916168" y="178308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5A5A6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044184" y="1325880"/>
            <a:ext cx="1316736" cy="192024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9050">
            <a:solidFill>
              <a:srgbClr val="66ABA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45352" y="1453896"/>
            <a:ext cx="896112" cy="896112"/>
          </a:xfrm>
          <a:prstGeom prst="ellipse">
            <a:avLst/>
          </a:prstGeom>
          <a:solidFill>
            <a:srgbClr val="006D6F"/>
          </a:solidFill>
          <a:ln/>
        </p:spPr>
      </p:sp>
      <p:sp>
        <p:nvSpPr>
          <p:cNvPr id="32" name="Text 30"/>
          <p:cNvSpPr/>
          <p:nvPr/>
        </p:nvSpPr>
        <p:spPr>
          <a:xfrm>
            <a:off x="6245352" y="1453896"/>
            <a:ext cx="8961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044184" y="2441448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3B"/>
                </a:solidFill>
              </a:rPr>
              <a:t>Barcode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44184" y="27157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5A5A6"/>
                </a:solidFill>
              </a:rPr>
              <a:t>Library code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5A5A6"/>
                </a:solidFill>
              </a:rPr>
              <a:t>generated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370064" y="178308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5A5A6"/>
                </a:solidFill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498080" y="1325880"/>
            <a:ext cx="1316736" cy="192024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9050">
            <a:solidFill>
              <a:srgbClr val="66ABA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99248" y="1453896"/>
            <a:ext cx="896112" cy="896112"/>
          </a:xfrm>
          <a:prstGeom prst="ellipse">
            <a:avLst/>
          </a:prstGeom>
          <a:solidFill>
            <a:srgbClr val="006D6F"/>
          </a:solidFill>
          <a:ln/>
        </p:spPr>
      </p:sp>
      <p:sp>
        <p:nvSpPr>
          <p:cNvPr id="38" name="Text 36"/>
          <p:cNvSpPr/>
          <p:nvPr/>
        </p:nvSpPr>
        <p:spPr>
          <a:xfrm>
            <a:off x="7699248" y="1453896"/>
            <a:ext cx="8961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498080" y="2441448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3B"/>
                </a:solidFill>
              </a:rPr>
              <a:t>Stock ▲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498080" y="27157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5A5A6"/>
                </a:solidFill>
              </a:rPr>
              <a:t>Available to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5A5A6"/>
                </a:solidFill>
              </a:rPr>
              <a:t>members now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28600" y="3456432"/>
            <a:ext cx="8686800" cy="548640"/>
          </a:xfrm>
          <a:prstGeom prst="roundRect">
            <a:avLst>
              <a:gd name="adj" fmla="val 16667"/>
            </a:avLst>
          </a:prstGeom>
          <a:solidFill>
            <a:srgbClr val="F3F8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4564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💰  On GRN completion: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194560" y="345643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</a:rPr>
              <a:t>Accounts payable auto-created → Supplier ledger updated → Payment voucher generated → Daily revenue recorded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9F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006D6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SECURITY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Role-Based Authorization (RBAC)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1874520" cy="1261872"/>
          </a:xfrm>
          <a:prstGeom prst="roundRect">
            <a:avLst>
              <a:gd name="adj" fmla="val 8696"/>
            </a:avLst>
          </a:prstGeom>
          <a:solidFill>
            <a:srgbClr val="006D6F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35024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181051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Admin creates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custom Role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12848" y="171907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5A5A6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423160" y="1261872"/>
            <a:ext cx="1874520" cy="1261872"/>
          </a:xfrm>
          <a:prstGeom prst="roundRect">
            <a:avLst>
              <a:gd name="adj" fmla="val 8696"/>
            </a:avLst>
          </a:prstGeom>
          <a:solidFill>
            <a:srgbClr val="006D6F"/>
          </a:solidFill>
          <a:ln/>
        </p:spPr>
      </p:sp>
      <p:sp>
        <p:nvSpPr>
          <p:cNvPr id="11" name="Text 9"/>
          <p:cNvSpPr/>
          <p:nvPr/>
        </p:nvSpPr>
        <p:spPr>
          <a:xfrm>
            <a:off x="2423160" y="1335024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423160" y="181051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Assigns granular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Permissions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15968" y="171907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5A5A6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26280" y="1261872"/>
            <a:ext cx="1874520" cy="1261872"/>
          </a:xfrm>
          <a:prstGeom prst="roundRect">
            <a:avLst>
              <a:gd name="adj" fmla="val 8696"/>
            </a:avLst>
          </a:prstGeom>
          <a:solidFill>
            <a:srgbClr val="006D6F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1335024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26280" y="181051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Assigns Role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to Users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19088" y="171907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5A5A6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629400" y="1261872"/>
            <a:ext cx="1874520" cy="1261872"/>
          </a:xfrm>
          <a:prstGeom prst="roundRect">
            <a:avLst>
              <a:gd name="adj" fmla="val 8696"/>
            </a:avLst>
          </a:prstGeom>
          <a:solidFill>
            <a:srgbClr val="006D6F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335024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629400" y="181051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Every API request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checked dynamically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004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3B"/>
                </a:solidFill>
              </a:rPr>
              <a:t>Sample Permissions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090672"/>
            <a:ext cx="1298448" cy="320040"/>
          </a:xfrm>
          <a:prstGeom prst="roundRect">
            <a:avLst>
              <a:gd name="adj" fmla="val 17143"/>
            </a:avLst>
          </a:prstGeom>
          <a:solidFill>
            <a:srgbClr val="CCE8E8"/>
          </a:solidFill>
          <a:ln w="9525">
            <a:solidFill>
              <a:srgbClr val="006D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09067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D6F"/>
                </a:solidFill>
              </a:rPr>
              <a:t>ManageBooks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737360" y="3090672"/>
            <a:ext cx="1298448" cy="320040"/>
          </a:xfrm>
          <a:prstGeom prst="roundRect">
            <a:avLst>
              <a:gd name="adj" fmla="val 17143"/>
            </a:avLst>
          </a:prstGeom>
          <a:solidFill>
            <a:srgbClr val="CCE8E8"/>
          </a:solidFill>
          <a:ln w="9525">
            <a:solidFill>
              <a:srgbClr val="006D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37360" y="309067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D6F"/>
                </a:solidFill>
              </a:rPr>
              <a:t>ApproveBorrowings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154680" y="3090672"/>
            <a:ext cx="1298448" cy="320040"/>
          </a:xfrm>
          <a:prstGeom prst="roundRect">
            <a:avLst>
              <a:gd name="adj" fmla="val 17143"/>
            </a:avLst>
          </a:prstGeom>
          <a:solidFill>
            <a:srgbClr val="CCE8E8"/>
          </a:solidFill>
          <a:ln w="9525">
            <a:solidFill>
              <a:srgbClr val="006D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54680" y="309067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D6F"/>
                </a:solidFill>
              </a:rPr>
              <a:t>ManageMembers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3502152"/>
            <a:ext cx="1298448" cy="320040"/>
          </a:xfrm>
          <a:prstGeom prst="roundRect">
            <a:avLst>
              <a:gd name="adj" fmla="val 17143"/>
            </a:avLst>
          </a:prstGeom>
          <a:solidFill>
            <a:srgbClr val="CCE8E8"/>
          </a:solidFill>
          <a:ln w="9525">
            <a:solidFill>
              <a:srgbClr val="006D6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0215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D6F"/>
                </a:solidFill>
              </a:rPr>
              <a:t>ViewReports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737360" y="3502152"/>
            <a:ext cx="1298448" cy="320040"/>
          </a:xfrm>
          <a:prstGeom prst="roundRect">
            <a:avLst>
              <a:gd name="adj" fmla="val 17143"/>
            </a:avLst>
          </a:prstGeom>
          <a:solidFill>
            <a:srgbClr val="CCE8E8"/>
          </a:solidFill>
          <a:ln w="9525">
            <a:solidFill>
              <a:srgbClr val="006D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37360" y="350215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D6F"/>
                </a:solidFill>
              </a:rPr>
              <a:t>ManageStock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154680" y="3502152"/>
            <a:ext cx="1298448" cy="320040"/>
          </a:xfrm>
          <a:prstGeom prst="roundRect">
            <a:avLst>
              <a:gd name="adj" fmla="val 17143"/>
            </a:avLst>
          </a:prstGeom>
          <a:solidFill>
            <a:srgbClr val="CCE8E8"/>
          </a:solidFill>
          <a:ln w="9525">
            <a:solidFill>
              <a:srgbClr val="006D6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54680" y="350215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D6F"/>
                </a:solidFill>
              </a:rPr>
              <a:t>ConfigureFines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36592" y="2743200"/>
            <a:ext cx="4069080" cy="1664208"/>
          </a:xfrm>
          <a:prstGeom prst="roundRect">
            <a:avLst>
              <a:gd name="adj" fmla="val 6593"/>
            </a:avLst>
          </a:prstGeom>
          <a:solidFill>
            <a:srgbClr val="1A2E3B"/>
          </a:solidFill>
          <a:ln/>
        </p:spPr>
      </p:sp>
      <p:sp>
        <p:nvSpPr>
          <p:cNvPr id="35" name="Text 33"/>
          <p:cNvSpPr/>
          <p:nvPr/>
        </p:nvSpPr>
        <p:spPr>
          <a:xfrm>
            <a:off x="4919472" y="285292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D6F"/>
                </a:solidFill>
              </a:rPr>
              <a:t>🔒  Key Benefit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19472" y="3218688"/>
            <a:ext cx="3703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Admin can modify roles &amp; permissions at any time — no code changes needed. Every endpoint is policy-protected on the .NET Core backend.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9F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006D6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FEATURES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 Features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8056" y="13898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8F5F5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" y="1389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9848" y="1389888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3B"/>
                </a:solidFill>
              </a:rPr>
              <a:t>Dynamic Low-Stock Alert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69848" y="1682496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When any item's stock drops below re-order level, system auto-generates a requisition and sends a dashboard alert.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261872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37176" y="13898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8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4837176" y="1389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58968" y="1389888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3B"/>
                </a:solidFill>
              </a:rPr>
              <a:t>FEFO Expiry Tracking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58968" y="1682496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Batch number &amp; expiry date logged on GRN. Manager notified 15 days &amp; 7 days before expiry for action.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496312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056" y="262432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8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" y="2624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🔎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69848" y="2624328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3B"/>
                </a:solidFill>
              </a:rPr>
              <a:t>System Audit Trail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69848" y="2916936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Every data change or deletion is securely logged — who, when, what — fully traceable from the admin panel.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2496312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37176" y="262432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8F5F5"/>
          </a:solidFill>
          <a:ln/>
        </p:spPr>
      </p:sp>
      <p:sp>
        <p:nvSpPr>
          <p:cNvPr id="23" name="Text 21"/>
          <p:cNvSpPr/>
          <p:nvPr/>
        </p:nvSpPr>
        <p:spPr>
          <a:xfrm>
            <a:off x="4837176" y="2624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58968" y="2624328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3B"/>
                </a:solidFill>
              </a:rPr>
              <a:t>PDF Borrowing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58968" y="2916936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Members can preview first 10 pages of any PDF copy online. No download allowed. Admin controls access.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730752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056" y="385876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8F5F5"/>
          </a:solidFill>
          <a:ln/>
        </p:spPr>
      </p:sp>
      <p:sp>
        <p:nvSpPr>
          <p:cNvPr id="28" name="Text 26"/>
          <p:cNvSpPr/>
          <p:nvPr/>
        </p:nvSpPr>
        <p:spPr>
          <a:xfrm>
            <a:off x="448056" y="38587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69848" y="3858768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3B"/>
                </a:solidFill>
              </a:rPr>
              <a:t>Member Report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69848" y="4151376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Members generate their own activity report: borrowings, reservations, fines — printable as PDF.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3730752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37176" y="385876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8F5F5"/>
          </a:solidFill>
          <a:ln/>
        </p:spPr>
      </p:sp>
      <p:sp>
        <p:nvSpPr>
          <p:cNvPr id="33" name="Text 31"/>
          <p:cNvSpPr/>
          <p:nvPr/>
        </p:nvSpPr>
        <p:spPr>
          <a:xfrm>
            <a:off x="4837176" y="38587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🔔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58968" y="3858768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3B"/>
                </a:solidFill>
              </a:rPr>
              <a:t>Notification System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58968" y="4151376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Auto-notifications for overdue books, reservation fulfilled, and membership expiry reminders.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6D6F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the Team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6D6F"/>
                </a:solidFill>
              </a:rPr>
              <a:t>Team 404Squad  ·  IsDB-BISEW Round-67  ·  NVIT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1536192" cy="1965960"/>
          </a:xfrm>
          <a:prstGeom prst="roundRect">
            <a:avLst>
              <a:gd name="adj" fmla="val 7143"/>
            </a:avLst>
          </a:prstGeom>
          <a:solidFill>
            <a:srgbClr val="263D4C"/>
          </a:solidFill>
          <a:ln w="12700">
            <a:solidFill>
              <a:srgbClr val="006D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" y="1517904"/>
            <a:ext cx="896112" cy="896112"/>
          </a:xfrm>
          <a:prstGeom prst="ellipse">
            <a:avLst/>
          </a:prstGeom>
          <a:solidFill>
            <a:srgbClr val="006D6F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" y="1517904"/>
            <a:ext cx="8961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93192" y="248716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Mizanur Rahman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3192" y="2816352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6D6F"/>
                </a:solidFill>
              </a:rPr>
              <a:t>Team Leader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6D6F"/>
                </a:solidFill>
              </a:rPr>
              <a:t>Backend + Frontend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020824" y="1353312"/>
            <a:ext cx="1536192" cy="1965960"/>
          </a:xfrm>
          <a:prstGeom prst="roundRect">
            <a:avLst>
              <a:gd name="adj" fmla="val 7143"/>
            </a:avLst>
          </a:prstGeom>
          <a:solidFill>
            <a:srgbClr val="263D4C"/>
          </a:solidFill>
          <a:ln w="12700">
            <a:solidFill>
              <a:srgbClr val="006D6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1720" y="1517904"/>
            <a:ext cx="896112" cy="896112"/>
          </a:xfrm>
          <a:prstGeom prst="ellipse">
            <a:avLst/>
          </a:prstGeom>
          <a:solidFill>
            <a:srgbClr val="006D6F"/>
          </a:solidFill>
          <a:ln/>
        </p:spPr>
      </p:sp>
      <p:sp>
        <p:nvSpPr>
          <p:cNvPr id="13" name="Text 11"/>
          <p:cNvSpPr/>
          <p:nvPr/>
        </p:nvSpPr>
        <p:spPr>
          <a:xfrm>
            <a:off x="2331720" y="1517904"/>
            <a:ext cx="8961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093976" y="248716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Moinuddin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93976" y="2816352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6D6F"/>
                </a:solidFill>
              </a:rPr>
              <a:t>Backend + Frontend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21608" y="1353312"/>
            <a:ext cx="1536192" cy="1965960"/>
          </a:xfrm>
          <a:prstGeom prst="roundRect">
            <a:avLst>
              <a:gd name="adj" fmla="val 7143"/>
            </a:avLst>
          </a:prstGeom>
          <a:solidFill>
            <a:srgbClr val="263D4C"/>
          </a:solidFill>
          <a:ln w="12700">
            <a:solidFill>
              <a:srgbClr val="006D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32504" y="1517904"/>
            <a:ext cx="896112" cy="896112"/>
          </a:xfrm>
          <a:prstGeom prst="ellipse">
            <a:avLst/>
          </a:prstGeom>
          <a:solidFill>
            <a:srgbClr val="006D6F"/>
          </a:solidFill>
          <a:ln/>
        </p:spPr>
      </p:sp>
      <p:sp>
        <p:nvSpPr>
          <p:cNvPr id="18" name="Text 16"/>
          <p:cNvSpPr/>
          <p:nvPr/>
        </p:nvSpPr>
        <p:spPr>
          <a:xfrm>
            <a:off x="4032504" y="1517904"/>
            <a:ext cx="8961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794760" y="248716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Abdullah Al Ayman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94760" y="2816352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6D6F"/>
                </a:solidFill>
              </a:rPr>
              <a:t>Backend + Frontend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22392" y="1353312"/>
            <a:ext cx="1536192" cy="1965960"/>
          </a:xfrm>
          <a:prstGeom prst="roundRect">
            <a:avLst>
              <a:gd name="adj" fmla="val 7143"/>
            </a:avLst>
          </a:prstGeom>
          <a:solidFill>
            <a:srgbClr val="263D4C"/>
          </a:solidFill>
          <a:ln w="12700">
            <a:solidFill>
              <a:srgbClr val="006D6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33288" y="1517904"/>
            <a:ext cx="896112" cy="896112"/>
          </a:xfrm>
          <a:prstGeom prst="ellipse">
            <a:avLst/>
          </a:prstGeom>
          <a:solidFill>
            <a:srgbClr val="006D6F"/>
          </a:solidFill>
          <a:ln/>
        </p:spPr>
      </p:sp>
      <p:sp>
        <p:nvSpPr>
          <p:cNvPr id="23" name="Text 21"/>
          <p:cNvSpPr/>
          <p:nvPr/>
        </p:nvSpPr>
        <p:spPr>
          <a:xfrm>
            <a:off x="5733288" y="1517904"/>
            <a:ext cx="8961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N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495544" y="248716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Nasrin Zaman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95544" y="2816352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6D6F"/>
                </a:solidFill>
              </a:rPr>
              <a:t>Backend + Frontend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23176" y="1353312"/>
            <a:ext cx="1536192" cy="1965960"/>
          </a:xfrm>
          <a:prstGeom prst="roundRect">
            <a:avLst>
              <a:gd name="adj" fmla="val 7143"/>
            </a:avLst>
          </a:prstGeom>
          <a:solidFill>
            <a:srgbClr val="263D4C"/>
          </a:solidFill>
          <a:ln w="12700">
            <a:solidFill>
              <a:srgbClr val="006D6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34072" y="1517904"/>
            <a:ext cx="896112" cy="896112"/>
          </a:xfrm>
          <a:prstGeom prst="ellipse">
            <a:avLst/>
          </a:prstGeom>
          <a:solidFill>
            <a:srgbClr val="006D6F"/>
          </a:solidFill>
          <a:ln/>
        </p:spPr>
      </p:sp>
      <p:sp>
        <p:nvSpPr>
          <p:cNvPr id="28" name="Text 26"/>
          <p:cNvSpPr/>
          <p:nvPr/>
        </p:nvSpPr>
        <p:spPr>
          <a:xfrm>
            <a:off x="7434072" y="1517904"/>
            <a:ext cx="8961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J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7196328" y="248716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Joynab Nur Mishu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196328" y="2816352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6D6F"/>
                </a:solidFill>
              </a:rPr>
              <a:t>Backend + Frontend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0040" y="3493008"/>
            <a:ext cx="8503920" cy="16459"/>
          </a:xfrm>
          <a:prstGeom prst="rect">
            <a:avLst/>
          </a:prstGeom>
          <a:solidFill>
            <a:srgbClr val="33999B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566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CCC"/>
                </a:solidFill>
              </a:rPr>
              <a:t>Trainer: Foysal Wahid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63440" y="3566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CCC"/>
                </a:solidFill>
              </a:rPr>
              <a:t>Consultant: Jahidul Hasan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📚  Lighthouse Library Management System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5760" y="4251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</a:rPr>
              <a:t>Built with React  ·  Angular  ·  .NET Core 8  ·  SQL Server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Lighthouse Library Management System</dc:title>
  <dc:subject>PptxGenJS Presentation</dc:subject>
  <dc:creator>PptxGenJS</dc:creator>
  <cp:lastModifiedBy>PptxGenJS</cp:lastModifiedBy>
  <cp:revision>1</cp:revision>
  <dcterms:created xsi:type="dcterms:W3CDTF">2026-05-19T03:16:25Z</dcterms:created>
  <dcterms:modified xsi:type="dcterms:W3CDTF">2026-05-19T03:16:25Z</dcterms:modified>
</cp:coreProperties>
</file>